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Fiscal Balance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+0.0;-0.0;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4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2A33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FY20</c:v>
                  </c:pt>
                  <c:pt idx="1">
                    <c:v>FY21</c:v>
                  </c:pt>
                  <c:pt idx="2">
                    <c:v>FY22</c:v>
                  </c:pt>
                  <c:pt idx="3">
                    <c:v>FY23</c:v>
                  </c:pt>
                  <c:pt idx="4">
                    <c:v>FY24</c:v>
                  </c:pt>
                  <c:pt idx="5">
                    <c:v>FY25</c:v>
                  </c:pt>
                  <c:pt idx="6">
                    <c:v>FY26 Tgt.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-11.5</c:v>
                </c:pt>
                <c:pt idx="1">
                  <c:v>-7.8</c:v>
                </c:pt>
                <c:pt idx="2">
                  <c:v>0.7</c:v>
                </c:pt>
                <c:pt idx="3">
                  <c:v>-1.8</c:v>
                </c:pt>
                <c:pt idx="4">
                  <c:v>-5.3</c:v>
                </c:pt>
                <c:pt idx="5">
                  <c:v>-4.6</c:v>
                </c:pt>
                <c:pt idx="6">
                  <c:v>-2.2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b="0" i="0" strike="noStrike" sz="900" u="none">
                  <a:solidFill>
                    <a:srgbClr val="2634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-1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SWF Assets % of GDP (2024)</c:v>
                </c:pt>
              </c:strCache>
            </c:strRef>
          </c:tx>
          <c:spPr>
            <a:solidFill>
              <a:srgbClr val="9AA7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634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CHN</c:v>
                  </c:pt>
                  <c:pt idx="1">
                    <c:v>TTO</c:v>
                  </c:pt>
                  <c:pt idx="2">
                    <c:v>IDN</c:v>
                  </c:pt>
                  <c:pt idx="3">
                    <c:v>SAU</c:v>
                  </c:pt>
                  <c:pt idx="4">
                    <c:v>HKG</c:v>
                  </c:pt>
                  <c:pt idx="5">
                    <c:v>SGP</c:v>
                  </c:pt>
                  <c:pt idx="6">
                    <c:v>ARE</c:v>
                  </c:pt>
                  <c:pt idx="7">
                    <c:v>QAT</c:v>
                  </c:pt>
                  <c:pt idx="8">
                    <c:v>NOR</c:v>
                  </c:pt>
                  <c:pt idx="9">
                    <c:v>KWT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18.8</c:v>
                </c:pt>
                <c:pt idx="1">
                  <c:v>24.7</c:v>
                </c:pt>
                <c:pt idx="2">
                  <c:v>64.5</c:v>
                </c:pt>
                <c:pt idx="3">
                  <c:v>74.6</c:v>
                </c:pt>
                <c:pt idx="4">
                  <c:v>131.1</c:v>
                </c:pt>
                <c:pt idx="5">
                  <c:v>171</c:v>
                </c:pt>
                <c:pt idx="6">
                  <c:v>204.4</c:v>
                </c:pt>
                <c:pt idx="7">
                  <c:v>254.1</c:v>
                </c:pt>
                <c:pt idx="8">
                  <c:v>437.9</c:v>
                </c:pt>
                <c:pt idx="9">
                  <c:v>642.2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2634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image" Target="../media/image-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Trinidad &amp; Tobago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Outlook — Power Sector Investment Context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57200" y="11247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investment opportunity assessment  |  August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863072" y="237744"/>
            <a:ext cx="841248" cy="8412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5388" y="480060"/>
            <a:ext cx="356616" cy="356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572768"/>
            <a:ext cx="2109155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19050" dir="5400000">
              <a:srgbClr val="B7C2D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664208"/>
            <a:ext cx="2109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12064" y="2075688"/>
            <a:ext cx="1999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 GDP Growth (IMF)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9235" y="1572768"/>
            <a:ext cx="2109155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19050" dir="5400000">
              <a:srgbClr val="B7C2D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49235" y="1664208"/>
            <a:ext cx="2109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-4.6%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2804099" y="2075688"/>
            <a:ext cx="1999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Fiscal Balance, % GDP (Actual)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41270" y="1572768"/>
            <a:ext cx="2109155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19050" dir="5400000">
              <a:srgbClr val="B7C2D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41270" y="1664208"/>
            <a:ext cx="2109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BBB-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096134" y="2075688"/>
            <a:ext cx="1999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Rating — Negative Outlook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33305" y="1572768"/>
            <a:ext cx="2109155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19050" dir="5400000">
              <a:srgbClr val="B7C2D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33305" y="1664208"/>
            <a:ext cx="2109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388169" y="2075688"/>
            <a:ext cx="1999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Share of GDP (2025, IMF)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625340" y="1572768"/>
            <a:ext cx="2109155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19050" dir="5400000">
              <a:srgbClr val="B7C2D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625340" y="1664208"/>
            <a:ext cx="2109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MW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9680204" y="2075688"/>
            <a:ext cx="19994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Brechin Solar Farm Online (2025)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" y="2820924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32688" y="2724912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Outlook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457200" y="3218688"/>
            <a:ext cx="3576218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subdued: +0.8% (2025, 2026f — IMF); reaccelerates from 2027 as new gas supply (incl. Manatee field, end-2027) comes online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low &amp; stable, near 2%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balance improving: -11.5% of GDP (FY2020) to -4.6% (FY2025, actual — Central Bank of T&amp;T); FY2026 government budget targets -2.2%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debt ~68% of GDP (end-2025), up from 27% in 2005 on persistent deficits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 in surplus; reserves ~5.5 months of imports plus Heritage &amp; Stabilisation Fund buffer (~24% of GDP)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307738" y="27432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462" y="2820924"/>
            <a:ext cx="210312" cy="2103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83226" y="2724912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Backbone &amp; Power Sector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4307738" y="3218688"/>
            <a:ext cx="3576218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sector: ~20% of GDP but ~80% of exports and ~35% of govt. revenue (2025, IMF) — fiscal/FX exposure far exceeds its GDP weight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decline: oil output ~80% below its 1978 peak; gas output ~40% below its 2010 peak, raising reform urgency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~100% gas-fired (T&amp;TEC + IPPs PowerGen/TGU/Trinity Power); NGC supplies gas to T&amp;TEC at heavily subsidized, below-market rates — lowest tariffs in the Caribbean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underway: authorities began raising industrial gas/electricity prices in 2025–26; power has been preferentially protected on gas supply even as LNG/petrochemical volumes were cut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158277" y="27432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001" y="2820924"/>
            <a:ext cx="210312" cy="21031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633765" y="2724912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Read-Through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8158277" y="3218688"/>
            <a:ext cx="3576218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precedent: Brechin Solar Farm (92MW; bp, Shell, Lightsource bp + NGC) went operational in 2025 — T&amp;T’s first utility-scale, IPP-model renewable asset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tailwind: renewables target raised to 30% of electricity by 2030 (from ~14%); IMF notes more renewables would free gas for higher-value LNG/petrochemical export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flagged by IMF: scaling renewables “requires significant investment and regulatory frameworks for independent power production” — the IPP regime is still being built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risks: S&amp;P BBB-/Negative (~1-in-3 downgrade risk); pace of subsidy/tariff reform; T&amp;TEC’s finances as offtake counterparty; timing of new gas supply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IMF, Trinidad and Tobago — 2026 Article IV Consultation (Staff Concluding Statement, Feb 2026) and Country Report No. 26/121, Selected Issues (June 2026); Central Bank of Trinidad and Tobago, Fiscal Balances and Ratios (Fiscal Year); S&amp;P Global Ratings sovereign rating actions (2025–26); T&amp;T Ministry of Energy and Energy Industries.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Trinidad &amp; Tobago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Concentration, FX Exposure &amp; the Fiscal Buffer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57200" y="11247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investment opportunity assessment  |  August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863072" y="237744"/>
            <a:ext cx="841248" cy="8412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5388" y="480060"/>
            <a:ext cx="356616" cy="356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81328"/>
            <a:ext cx="2682164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19050" dir="5400000">
              <a:srgbClr val="B7C2D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572768"/>
            <a:ext cx="268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12064" y="1984248"/>
            <a:ext cx="2572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Share of Exports (2025, IMF)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22244" y="1481328"/>
            <a:ext cx="2682164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19050" dir="5400000">
              <a:srgbClr val="B7C2D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22244" y="1572768"/>
            <a:ext cx="268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-4.6%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377108" y="1984248"/>
            <a:ext cx="2572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Fiscal Balance (Actual) — improved from -11.5% in FY2020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87288" y="1481328"/>
            <a:ext cx="2682164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19050" dir="5400000">
              <a:srgbClr val="B7C2D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87288" y="1572768"/>
            <a:ext cx="268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242152" y="1984248"/>
            <a:ext cx="2572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HSF Assets, % of GDP (end-FY2025)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052331" y="1481328"/>
            <a:ext cx="2682164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63500" dist="19050" dir="5400000">
              <a:srgbClr val="B7C2D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052331" y="1572768"/>
            <a:ext cx="268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2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107195" y="1984248"/>
            <a:ext cx="2572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Debt, % of GDP (end-2025)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2395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" y="2473452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32688" y="2377440"/>
            <a:ext cx="5003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Concentration &amp; FX Exposure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57200" y="2871216"/>
            <a:ext cx="54786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~20% of GDP, ~80% of exports, ~35% of govt. revenue (2025, IMF) — FX and fiscal revenue both hinge on a shrinking resource base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output already ~40% below its 2010 peak (IMF); Wood Mackenzie’s field-level outlook projects continued structural decline absent new project sanctions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26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supply (Cypre online Apr-2025; Manatee targeted end-2027) offers a near-term offset, not a reversal of the multi-decade trend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7200" y="4352544"/>
            <a:ext cx="5478628" cy="2002536"/>
          </a:xfrm>
          <a:prstGeom prst="roundRect">
            <a:avLst>
              <a:gd name="adj" fmla="val 2740"/>
            </a:avLst>
          </a:prstGeom>
          <a:solidFill>
            <a:srgbClr val="F5F6F8"/>
          </a:solidFill>
          <a:ln w="12700">
            <a:solidFill>
              <a:srgbClr val="C7D0DC"/>
            </a:solidFill>
            <a:prstDash val="dash"/>
          </a:ln>
        </p:spPr>
      </p:sp>
      <p:sp>
        <p:nvSpPr>
          <p:cNvPr id="24" name="Text 20"/>
          <p:cNvSpPr/>
          <p:nvPr/>
        </p:nvSpPr>
        <p:spPr>
          <a:xfrm>
            <a:off x="777240" y="4581144"/>
            <a:ext cx="483854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B7787"/>
                </a:solidFill>
              </a:rPr>
              <a:t>ENERGY INSTITUTE + WOOD MACKENZIE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787"/>
                </a:solidFill>
              </a:rPr>
              <a:t>Gas production vs. domestic consumption &amp; LNG exports, 2000–2048 (historical actuals + WoodMac forecast)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AA7B8"/>
                </a:solidFill>
              </a:rPr>
              <a:t>[ Paste chart here ]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255868" y="239572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876" y="245973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58204" y="2377440"/>
            <a:ext cx="507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Balance: Narrowing, Not Yet Closed</a:t>
            </a:r>
            <a:endParaRPr lang="en-US" sz="13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255868" y="2743200"/>
          <a:ext cx="5478628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6255868" y="4059936"/>
            <a:ext cx="547862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FY2022’s swing to surplus (+0.7%) reflects an energy-price windfall, not a structural shift; debt stock remains elevated at ~68% of GDP (end-2025) vs. ~27% in 2005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255868" y="446684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876" y="4530852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658204" y="4448556"/>
            <a:ext cx="507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&amp; Stabilisation Fund — Built for This</a:t>
            </a:r>
            <a:endParaRPr lang="en-US" sz="1300" dirty="0"/>
          </a:p>
        </p:txBody>
      </p:sp>
      <p:graphicFrame>
        <p:nvGraphicFramePr>
          <p:cNvPr id="33" name="Chart 1" descr=""/>
          <p:cNvGraphicFramePr/>
          <p:nvPr/>
        </p:nvGraphicFramePr>
        <p:xfrm>
          <a:off x="6255868" y="4814316"/>
          <a:ext cx="5478628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4" name="Text 26"/>
          <p:cNvSpPr/>
          <p:nvPr/>
        </p:nvSpPr>
        <p:spPr>
          <a:xfrm>
            <a:off x="6255868" y="6131052"/>
            <a:ext cx="547862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Wealth Fund Assets, % of GDP (2024) — T&amp;T’s HSF (highlighted) holds &gt;US$6bn (~24% of GDP, end-FY2025): modest vs. Gulf/Norway peers, but purpose-built for this exposure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Central Bank of Trinidad and Tobago, Fiscal Balances and Ratios (Fiscal Year) — FY2020–FY2025 actuals; T&amp;T Ministry of Finance, Budget Statement FY2026 (Oct 2025) — FY2026 target; IMF Country Report No. 26/121, Selected Issues (June 2026) — public debt and Sovereign Wealth Fund Assets 2024 (orig. Sovereign Wealth Fund Institute &amp; IMF staff calcs.); Energy Institute / Wood Mackenzie production data (chart to be inserted).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2026-08-03T16:57:26Z</dcterms:created>
  <dcterms:modified xsi:type="dcterms:W3CDTF">2026-08-03T16:57:26Z</dcterms:modified>
</cp:coreProperties>
</file>