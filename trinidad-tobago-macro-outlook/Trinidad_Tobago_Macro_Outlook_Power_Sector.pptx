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Trinidad &amp; Tobago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Macroeconomic Outlook — Power Sector Investment Context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457200" y="11612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investment opportunity assessment  |  August 2026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10863072" y="256032"/>
            <a:ext cx="841248" cy="841248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5388" y="498348"/>
            <a:ext cx="356616" cy="3566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57200" y="1572768"/>
            <a:ext cx="2109155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1673352"/>
            <a:ext cx="21091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512064" y="2103120"/>
            <a:ext cx="19994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Real GDP Growth (IMF)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749235" y="1572768"/>
            <a:ext cx="2109155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749235" y="1673352"/>
            <a:ext cx="21091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2804099" y="2103120"/>
            <a:ext cx="19994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Fiscal Deficit, % of GDP (IMF)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5041270" y="1572768"/>
            <a:ext cx="2109155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5041270" y="1673352"/>
            <a:ext cx="21091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BBB-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096134" y="2103120"/>
            <a:ext cx="19994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S&amp;P Rating — Negative Outlook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7333305" y="1572768"/>
            <a:ext cx="2109155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333305" y="1673352"/>
            <a:ext cx="21091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7388169" y="2103120"/>
            <a:ext cx="19994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Share of GDP (2025, IMF)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9625340" y="1572768"/>
            <a:ext cx="2109155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/>
          <a:effectLst>
            <a:outerShdw sx="100000" sy="100000" kx="0" ky="0" algn="bl" rotWithShape="0" blurRad="63500" dist="19050" dir="5400000">
              <a:srgbClr val="B7C2D0">
                <a:alpha val="3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9625340" y="1673352"/>
            <a:ext cx="21091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2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MW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9680204" y="2103120"/>
            <a:ext cx="19994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Brechin Solar Farm Online (2025)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57200" y="274320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2820924"/>
            <a:ext cx="210312" cy="21031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32688" y="272491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Outlook</a:t>
            </a:r>
            <a:endParaRPr lang="en-US" sz="1450" dirty="0"/>
          </a:p>
        </p:txBody>
      </p:sp>
      <p:sp>
        <p:nvSpPr>
          <p:cNvPr id="25" name="Text 21"/>
          <p:cNvSpPr/>
          <p:nvPr/>
        </p:nvSpPr>
        <p:spPr>
          <a:xfrm>
            <a:off x="457200" y="3218688"/>
            <a:ext cx="3576218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subdued: +0.8% (2025, 2026f — IMF); reaccelerates from 2027 as new gas supply (incl. Manatee field, end-2027) comes online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Inflation low &amp; stable, near 2%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Fiscal deficit narrowing: 5.5% → 4.6% of GDP (2026f, IMF); government’s own budget target is a tighter 2.2%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debt ~68% of GDP (end-2025), up from 27% in 2005 on persistent deficits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account in surplus; reserves ~5.5 months of imports plus Heritage &amp; Stabilisation Fund buffer (~24% of GDP)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307738" y="274320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5462" y="2820924"/>
            <a:ext cx="210312" cy="210312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4783226" y="272491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Backbone &amp; Power Sector</a:t>
            </a:r>
            <a:endParaRPr lang="en-US" sz="1450" dirty="0"/>
          </a:p>
        </p:txBody>
      </p:sp>
      <p:sp>
        <p:nvSpPr>
          <p:cNvPr id="29" name="Text 24"/>
          <p:cNvSpPr/>
          <p:nvPr/>
        </p:nvSpPr>
        <p:spPr>
          <a:xfrm>
            <a:off x="4307738" y="3218688"/>
            <a:ext cx="3576218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sector: ~20% of GDP but ~80% of exports and ~35% of govt. revenue (2025, IMF) — fiscal/FX exposure far exceeds its GDP weight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decline: oil output ~80% below its 1978 peak; gas output ~40% below its 2010 peak, raising reform urgency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~100% gas-fired (T&amp;TEC + IPPs PowerGen/TGU/Trinity Power); NGC supplies gas to T&amp;TEC at heavily subsidized, below-market rates — lowest tariffs in the Caribbean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 underway: authorities began raising industrial gas/electricity prices in 2025–26; power has been preferentially protected on gas supply even as LNG/petrochemical volumes were cut</a:t>
            </a:r>
            <a:endParaRPr lang="en-US" sz="1050" dirty="0"/>
          </a:p>
        </p:txBody>
      </p:sp>
      <p:sp>
        <p:nvSpPr>
          <p:cNvPr id="30" name="Shape 25"/>
          <p:cNvSpPr/>
          <p:nvPr/>
        </p:nvSpPr>
        <p:spPr>
          <a:xfrm>
            <a:off x="8158277" y="2743200"/>
            <a:ext cx="365760" cy="365760"/>
          </a:xfrm>
          <a:prstGeom prst="ellipse">
            <a:avLst/>
          </a:prstGeom>
          <a:solidFill>
            <a:srgbClr val="1B2A4A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6001" y="2820924"/>
            <a:ext cx="210312" cy="21031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8633765" y="2724912"/>
            <a:ext cx="310073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Read-Through</a:t>
            </a:r>
            <a:endParaRPr lang="en-US" sz="1450" dirty="0"/>
          </a:p>
        </p:txBody>
      </p:sp>
      <p:sp>
        <p:nvSpPr>
          <p:cNvPr id="33" name="Text 27"/>
          <p:cNvSpPr/>
          <p:nvPr/>
        </p:nvSpPr>
        <p:spPr>
          <a:xfrm>
            <a:off x="8158277" y="3218688"/>
            <a:ext cx="3576218" cy="3136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Landmark precedent: Brechin Solar Farm (92MW; bp, Shell, Lightsource bp + NGC) went operational in 2025 — T&amp;T’s first utility-scale, IPP-model renewable asset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tailwind: renewables target raised to 30% of electricity by 2030 (from ~14%); IMF notes more renewables would free gas for higher-value LNG/petrochemical export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flagged by IMF: scaling renewables “requires significant investment and regulatory frameworks for independent power production” — the IPP regime is still being built</a:t>
            </a:r>
            <a:endParaRPr lang="en-US" sz="1050" dirty="0"/>
          </a:p>
          <a:p>
            <a:pPr marL="152400" indent="-152400">
              <a:lnSpc>
                <a:spcPct val="102000"/>
              </a:lnSpc>
              <a:spcAft>
                <a:spcPts val="800"/>
              </a:spcAft>
              <a:buSzPct val="100000"/>
              <a:buChar char="●"/>
            </a:pPr>
            <a:r>
              <a:rPr lang="en-US" sz="1050" dirty="0">
                <a:solidFill>
                  <a:srgbClr val="2634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risks: S&amp;P BBB-/Negative (~1-in-3 downgrade risk); pace of subsidy/tariff reform; T&amp;TEC’s finances as offtake counterparty; timing of new gas supply</a:t>
            </a:r>
            <a:endParaRPr lang="en-US" sz="1050" dirty="0"/>
          </a:p>
        </p:txBody>
      </p:sp>
      <p:sp>
        <p:nvSpPr>
          <p:cNvPr id="34" name="Text 28"/>
          <p:cNvSpPr/>
          <p:nvPr/>
        </p:nvSpPr>
        <p:spPr>
          <a:xfrm>
            <a:off x="457200" y="6473952"/>
            <a:ext cx="112772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B7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IMF, Trinidad and Tobago — 2026 Article IV Consultation (Staff Concluding Statement, Feb 2026) and Country Report No. 26/121, Selected Issues (June 2026); S&amp;P Global Ratings sovereign rating actions (2025–26); T&amp;T Ministry of Energy and Energy Industries.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2026-08-03T15:44:06Z</dcterms:created>
  <dcterms:modified xsi:type="dcterms:W3CDTF">2026-08-03T15:44:06Z</dcterms:modified>
</cp:coreProperties>
</file>